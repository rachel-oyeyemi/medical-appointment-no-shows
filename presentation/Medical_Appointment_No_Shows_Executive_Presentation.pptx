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Medical Appointment No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331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2DEF1"/>
                </a:solidFill>
              </a:defRPr>
            </a:pPr>
            <a:r>
              <a:t>Outreach prioritization, threshold economics, and responsible healthcare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F"/>
                </a:solidFill>
              </a:defRPr>
            </a:pPr>
            <a:r>
              <a:t>2.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8"/>
                </a:solidFill>
              </a:defRPr>
            </a:pPr>
            <a:r>
              <a:t>Support attendance without restricting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Missed appointments waste capacity and can delay care.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Blanket outreach consumes staff time.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Prioritize supportive reminders and care navigation.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5349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F"/>
                </a:solidFill>
              </a:defRPr>
            </a:pPr>
            <a:r>
              <a:t>3.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8"/>
                </a:solidFill>
              </a:defRPr>
            </a:pPr>
            <a:r>
              <a:t>Kaggle Medical Appointment No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110,527 appointment records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14 source columns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Approximately 20.2% no-shows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Brazilian context and limited time coverage</a:t>
            </a:r>
          </a:p>
        </p:txBody>
      </p:sp>
      <p:pic>
        <p:nvPicPr>
          <p:cNvPr id="5" name="Picture 4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5349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F"/>
                </a:solidFill>
              </a:defRPr>
            </a:pPr>
            <a:r>
              <a:t>4.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8"/>
                </a:solidFill>
              </a:defRPr>
            </a:pPr>
            <a:r>
              <a:t>Lead time, age, location, and policy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Longer waits are associated with risk.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Class imbalance makes accuracy misleading.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SMS status is observational.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Identifiers and invalid records require controls.</a:t>
            </a:r>
          </a:p>
        </p:txBody>
      </p:sp>
      <p:pic>
        <p:nvPicPr>
          <p:cNvPr id="5" name="Picture 4" descr="no_show_by_waiting_bu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5349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F"/>
                </a:solidFill>
              </a:defRPr>
            </a:pPr>
            <a:r>
              <a:t>5.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8"/>
                </a:solidFill>
              </a:defRPr>
            </a:pPr>
            <a:r>
              <a:t>Transparent baseline versus nonlinear challenger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Class-weighted Logistic Regression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Regularized XGBoost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Chronological 70/15/15 split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Validation-only threshold selection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5349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F"/>
                </a:solidFill>
              </a:defRPr>
            </a:pPr>
            <a:r>
              <a:t>6.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8"/>
                </a:solidFill>
              </a:defRPr>
            </a:pPr>
            <a:r>
              <a:t>Deterministic demonstration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Logistic test PR-AUC: 0.468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XGBoost test PR-AUC: 0.454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Validation-selected model: XGBoost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Official Kaggle rerun required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5349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F"/>
                </a:solidFill>
              </a:defRPr>
            </a:pPr>
            <a:r>
              <a:t>7.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8"/>
                </a:solidFill>
              </a:defRPr>
            </a:pPr>
            <a:r>
              <a:t>Ranking and operating policy are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High recall can require substantial outreach.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XGBoost reduces false alerts at its threshold.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Logistic ranks better on the demo test set.</a:t>
            </a:r>
          </a:p>
          <a:p>
            <a:pPr>
              <a:spcAft>
                <a:spcPts val="1000"/>
              </a:spcAft>
              <a:defRPr sz="1800">
                <a:solidFill>
                  <a:srgbClr val="262D37"/>
                </a:solidFill>
              </a:defRPr>
            </a:pPr>
            <a:r>
              <a:t>Keep champion and challenger models.</a:t>
            </a:r>
          </a:p>
        </p:txBody>
      </p:sp>
      <p:pic>
        <p:nvPicPr>
          <p:cNvPr id="5" name="Picture 4" descr="precision_reca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5349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F"/>
                </a:solidFill>
              </a:defRPr>
            </a:pPr>
            <a:r>
              <a:t>8.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8"/>
                </a:solidFill>
              </a:defRPr>
            </a:pPr>
            <a:r>
              <a:t>Use patient-centered risk 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62D37"/>
                </a:solidFill>
              </a:defRPr>
            </a:pPr>
            <a:r>
              <a:t>Low risk: standard reminders</a:t>
            </a:r>
          </a:p>
          <a:p>
            <a:pPr>
              <a:spcAft>
                <a:spcPts val="1000"/>
              </a:spcAft>
              <a:defRPr sz="2100">
                <a:solidFill>
                  <a:srgbClr val="262D37"/>
                </a:solidFill>
              </a:defRPr>
            </a:pPr>
            <a:r>
              <a:t>Medium risk: automated options</a:t>
            </a:r>
          </a:p>
          <a:p>
            <a:pPr>
              <a:spcAft>
                <a:spcPts val="1000"/>
              </a:spcAft>
              <a:defRPr sz="2100">
                <a:solidFill>
                  <a:srgbClr val="262D37"/>
                </a:solidFill>
              </a:defRPr>
            </a:pPr>
            <a:r>
              <a:t>High risk: human support or rescheduling</a:t>
            </a:r>
          </a:p>
          <a:p>
            <a:pPr>
              <a:spcAft>
                <a:spcPts val="1000"/>
              </a:spcAft>
              <a:defRPr sz="2100">
                <a:solidFill>
                  <a:srgbClr val="262D37"/>
                </a:solidFill>
              </a:defRPr>
            </a:pPr>
            <a:r>
              <a:t>Never deny care based on a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F"/>
                </a:solidFill>
              </a:defRPr>
            </a:pPr>
            <a:r>
              <a:t>9.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8"/>
                </a:solidFill>
              </a:defRPr>
            </a:pPr>
            <a:r>
              <a:t>Move to institutional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62D37"/>
                </a:solidFill>
              </a:defRPr>
            </a:pPr>
            <a:r>
              <a:t>Time-safe attendance history</a:t>
            </a:r>
          </a:p>
          <a:p>
            <a:pPr>
              <a:spcAft>
                <a:spcPts val="1000"/>
              </a:spcAft>
              <a:defRPr sz="2100">
                <a:solidFill>
                  <a:srgbClr val="262D37"/>
                </a:solidFill>
              </a:defRPr>
            </a:pPr>
            <a:r>
              <a:t>Appointment, provider, travel, and language features</a:t>
            </a:r>
          </a:p>
          <a:p>
            <a:pPr>
              <a:spcAft>
                <a:spcPts val="1000"/>
              </a:spcAft>
              <a:defRPr sz="2100">
                <a:solidFill>
                  <a:srgbClr val="262D37"/>
                </a:solidFill>
              </a:defRPr>
            </a:pPr>
            <a:r>
              <a:t>Calibration and temporal cross-validation</a:t>
            </a:r>
          </a:p>
          <a:p>
            <a:pPr>
              <a:spcAft>
                <a:spcPts val="1000"/>
              </a:spcAft>
              <a:defRPr sz="2100">
                <a:solidFill>
                  <a:srgbClr val="262D37"/>
                </a:solidFill>
              </a:defRPr>
            </a:pPr>
            <a:r>
              <a:t>Randomized intervention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DCE6F5"/>
                </a:solidFill>
              </a:defRPr>
            </a:pPr>
            <a:r>
              <a:t>Responsible no-show prediction combines leakage-aware modeling, transparent outreach thresholds, patient-centered interventions, equity monitoring, and human oversight.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